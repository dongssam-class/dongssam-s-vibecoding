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e5e61327-21ad-b3db-8802-c09eb393e7b8}">
          <p14:sldIdLst>
            <p14:sldId id="256"/>
            <p14:sldId id="257"/>
          </p14:sldIdLst>
        </p14:section>
        <p14:section name="1차시 · 임시정부, 27년의 약속" id="{81b459f7-1c37-c48c-4d84-817dd212ae22}">
          <p14:sldIdLst>
            <p14:sldId id="258"/>
            <p14:sldId id="259"/>
            <p14:sldId id="260"/>
            <p14:sldId id="261"/>
            <p14:sldId id="262"/>
          </p14:sldIdLst>
        </p14:section>
        <p14:section name="2차시 · 아직 오지 않은 광복" id="{144c4a0c-f88e-efcc-1d00-105cf481fdc4}">
          <p14:sldIdLst>
            <p14:sldId id="263"/>
            <p14:sldId id="264"/>
            <p14:sldId id="265"/>
            <p14:sldId id="266"/>
            <p14:sldId id="267"/>
          </p14:sldIdLst>
        </p14:section>
        <p14:section name="3차시 · AI가 말하는 역사, 믿어도 될까?" id="{f93d515e-5bef-f51d-99f9-022cb7a443c7}">
          <p14:sldIdLst>
            <p14:sldId id="268"/>
            <p14:sldId id="269"/>
            <p14:sldId id="270"/>
            <p14:sldId id="271"/>
            <p14:sldId id="272"/>
          </p14:sldIdLst>
        </p14:section>
        <p14:section name="4차시 · 임시정부가 설계한 나라" id="{ea026d09-0cee-6903-c99b-ba0060adfe3f}">
          <p14:sldIdLst>
            <p14:sldId id="273"/>
            <p14:sldId id="274"/>
            <p14:sldId id="275"/>
            <p14:sldId id="276"/>
            <p14:sldId id="277"/>
          </p14:sldIdLst>
        </p14:section>
        <p14:section name="마무리" id="{6296dc71-a57d-37b0-95ae-a24aa3f7dbbb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전체 표지. 사전 설문은 1차시 전날 과제로 실시합니다.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“잘못된 기억은 희생을 지운다. 정확히 기억하는 것이 보훈이다.” 이 문장을 프로젝트 내내 칠판 한쪽에 고정해 둡니다. 기록관 임명장을 나눠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1차시 45분: 도입 7분, 플레이 22분, 기록 카드 9분, 정리 7분.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정답: 대한민국임시정부. 답을 공개한 뒤 아래 질문을 던지고, 이 질문은 4차시 마지막에 다시 답하게 된다고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전 2분 조작 안내. 장면 이름은 실제 앱에 맞게 바꿔 말합니다. 순회하며 “무엇을 포기했을까?”를 반복해서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감정 표현에는 정답이 없다고 안내합니다(SEL 자기인식). 모둠별 카드 1장을 패들렛 ‘기록 보관함’에 올립니다.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출구 카드는 사후 설문 서술형과 비교하는 자료로 보관합니다.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45분: 도입 5분, 추리 플레이 22분, 토의 10분, 정리 8분.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 정답(하늘이 무너지는 듯한 일이었다)은 정리 단계에서 공개합니다. 인용 판본과 쪽수는 수업 자료에 표기합니다.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판단 기록지(학습자료 3)를 씁니다. 결과보다 판단의 근거를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책임 있는 의사결정(SEL). 광복 이후 국제 정세·분단과 잇되 학년 수준에 맞춥니다.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사료 퍼즐 정답 공개 → 이 이야기 → 광복군에게 한 줄 감사 메모(4차시 편지 재료로 봉투 보관). 다음 시간 예고: “AI에게 광복군에 대해 물었더니 이렇게 답했습니다. 믿어도 될까요?”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3차시 45분: 도입 5분, 검증 3단계 5분, 사건 파일 20분, 팩트카드 8분, 정리 7분.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 답: 작전은 실행되지 못했다. 광복군이 못다 이룬 꿈과 김구의 탄식이 지워진다.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개인 계정의 생성형 AI는 쓰지 않습니다. 교사가 미리 생성·검토한 사건 파일을 앱에서 제공합니다.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정답(교사용): 1 오류-상하이 / 2 오류-민주공화제 / 3 사실 / 4 오류-일본 항복으로 실행되지 못함 / 5 사실 / 6 오류-시안. 사실 진술을 오류로 판정한 모둠에는 교차검증 단계를 다시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❓ 표시를 받은 카드는 다음 시간 전까지 수정합니다(동료 평가). 성찰: “정확히 기억하는 것이 왜 보훈일까?” 한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4차시 45분: 도입 5분, 3D RPG 17분, 감사 편지 15분, 정리 8분.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2027년은 현행 헌법 40주년, 6·10 민주항쟁 40주년입니다. 1차시 헌법 전문 퀴즈와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헌법 전문의 ‘4·19민주이념’으로 독립과 민주를 잇습니다. 실제 앱 공간·제도 항목명에 맞춰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2차시 감사 메모 봉투를 돌려줍니다. 막연한 미사여구보다 사실에 근거한 감사를 강조합니다. 편지는 앱에서 인쇄하거나 PDF로 저장합니다.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학습자료 7(나의 보훈 약속)을 작성합니다. 실천 활동 후 사후 설문을 실시합니다.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마무리. 사후 설문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기억은 FACT로 지킨다 · 임시정부·광복군 기록관 프로젝트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기억은 FACT로 지킨다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임시정부·광복군 기록관 프로젝트 · 중학교 역사 · 4차시 + 실천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기록관의 네 가지 임무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★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1851660" cy="30632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16687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Feel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16687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임시정부와 광복군의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선택을 체험한다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6687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1·2차시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2583180" y="1234440"/>
            <a:ext cx="1851660" cy="30632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6684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8668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674620" y="2240280"/>
            <a:ext cx="16687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Authenticate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674620" y="2697480"/>
            <a:ext cx="16687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AI가 말하는 역사를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사료로 검증한다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674620" y="3749040"/>
            <a:ext cx="16687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3차시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4709160" y="1234440"/>
            <a:ext cx="1851660" cy="30632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2664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1266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2240280"/>
            <a:ext cx="16687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Connect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697480"/>
            <a:ext cx="16687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임시정부의 약속을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오늘의 헌법과 잇는다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749040"/>
            <a:ext cx="16687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4차시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6835140" y="1234440"/>
            <a:ext cx="1851660" cy="30632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8644" y="14630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3864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926580" y="2240280"/>
            <a:ext cx="16687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Take action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26580" y="2697480"/>
            <a:ext cx="16687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정확한 기억을 우리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동네와 학교에 전한다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26580" y="3749040"/>
            <a:ext cx="16687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실천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1차시 · 임시정부, 27년의 약속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Feel ① · 웹앱 「임시정부 : 광복을 위한 꿈」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우리 헌법의 첫 문장, 빈칸을 채워 보세요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82296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68096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“유구한 역사와 전통에 빛나는 우리 대한국민은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3·1운동으로 건립된 (                         )의 법통과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불의에 항거한 4·19민주이념을 계승하고 …”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대한민국헌법 전문 (1987)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57200" y="3383280"/>
            <a:ext cx="822960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100년도 더 전에, 그것도 나라 밖에서 세운 정부를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왜 오늘의 헌법은 ‘뿌리’라고 할까요?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임무: 임시정부 요원이 되어 보기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2인 1기기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 명은 조작, 한 명은 사료 기록.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미션마다 역할 교대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사료 카드 수집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앱 속 장면마다 나오는 사료를 기록 카드에 옮겨 적기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한 가지 질문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“이 선택을 한 사람들은 무엇을 포기했을까?”</a:t>
            </a:r>
            <a:endParaRPr lang="en-US" sz="1400" dirty="0"/>
          </a:p>
        </p:txBody>
      </p:sp>
      <p:sp>
        <p:nvSpPr>
          <p:cNvPr id="20" name="qr-slot"/>
          <p:cNvSpPr/>
          <p:nvPr/>
        </p:nvSpPr>
        <p:spPr>
          <a:xfrm>
            <a:off x="7406640" y="3383280"/>
            <a:ext cx="128016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406640" y="3383280"/>
            <a:ext cx="128016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임시정부 : 광복을 위한 꿈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29000"/>
            <a:ext cx="66751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플레이 22분 · 진행이 빠른 모둠은 사료 원문 읽기 심화 미션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임정 활동 기록 카드 + 감정 온도계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1206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활동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근거가 된 사료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오늘과 이어지는 점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852160" y="1234440"/>
            <a:ext cx="2834640" cy="301752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감정 온도계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1874520"/>
            <a:ext cx="411480" cy="182880"/>
          </a:xfrm>
          <a:prstGeom prst="rect">
            <a:avLst/>
          </a:prstGeom>
          <a:solidFill>
            <a:srgbClr val="A23B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1828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2093976"/>
            <a:ext cx="411480" cy="182880"/>
          </a:xfrm>
          <a:prstGeom prst="rect">
            <a:avLst/>
          </a:prstGeom>
          <a:solidFill>
            <a:srgbClr val="A23B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20482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2313432"/>
            <a:ext cx="411480" cy="182880"/>
          </a:xfrm>
          <a:prstGeom prst="rect">
            <a:avLst/>
          </a:prstGeom>
          <a:solidFill>
            <a:srgbClr val="A23B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0" y="2267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2532888"/>
            <a:ext cx="411480" cy="182880"/>
          </a:xfrm>
          <a:prstGeom prst="rect">
            <a:avLst/>
          </a:prstGeom>
          <a:solidFill>
            <a:srgbClr val="A23B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2487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7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0" y="2752344"/>
            <a:ext cx="411480" cy="182880"/>
          </a:xfrm>
          <a:prstGeom prst="rect">
            <a:avLst/>
          </a:prstGeom>
          <a:solidFill>
            <a:srgbClr val="B08D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27066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0" y="2971800"/>
            <a:ext cx="411480" cy="182880"/>
          </a:xfrm>
          <a:prstGeom prst="rect">
            <a:avLst/>
          </a:prstGeom>
          <a:solidFill>
            <a:srgbClr val="B08D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2926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3191256"/>
            <a:ext cx="411480" cy="182880"/>
          </a:xfrm>
          <a:prstGeom prst="rect">
            <a:avLst/>
          </a:prstGeom>
          <a:solidFill>
            <a:srgbClr val="B08D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0" y="31455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00800" y="3410712"/>
            <a:ext cx="411480" cy="182880"/>
          </a:xfrm>
          <a:prstGeom prst="rect">
            <a:avLst/>
          </a:prstGeom>
          <a:solidFill>
            <a:srgbClr val="D9C0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3364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0" y="3630168"/>
            <a:ext cx="411480" cy="182880"/>
          </a:xfrm>
          <a:prstGeom prst="rect">
            <a:avLst/>
          </a:prstGeom>
          <a:solidFill>
            <a:srgbClr val="D9C0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35844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0" y="3849624"/>
            <a:ext cx="411480" cy="182880"/>
          </a:xfrm>
          <a:prstGeom prst="rect">
            <a:avLst/>
          </a:prstGeom>
          <a:solidFill>
            <a:srgbClr val="D9C0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38039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1874520"/>
            <a:ext cx="132588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가장 마음이 움직인 장면과 그 이유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학습자료 1 · 9분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출구 카드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76809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임시정부가 27년 동안 버틸 수 있었던 힘은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무엇이었을까?</a:t>
            </a:r>
            <a:endParaRPr lang="en-US" sz="2400" dirty="0"/>
          </a:p>
        </p:txBody>
      </p:sp>
      <p:sp>
        <p:nvSpPr>
          <p:cNvPr id="7" name="card"/>
          <p:cNvSpPr/>
          <p:nvPr/>
        </p:nvSpPr>
        <p:spPr>
          <a:xfrm>
            <a:off x="457200" y="3017520"/>
            <a:ext cx="82296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다음 시간 예고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77724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광복의 날, 임시정부 주석 김구는 왜 기뻐하지 않았을까?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2차시 · 아직 오지 않은 광복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Feel ② · 웹앱 「아직 오지 않은 광복」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사료 퍼즐: 김구는 왜 기뻐하지 않았을까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9144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“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25880"/>
            <a:ext cx="749808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아! 왜적이 항복! 이것은 내게 기쁜 소식이라기보다는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(                                        ).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천신만고로 수년간 애를 써서 참전할 준비를 한 것도 다 허사다.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김구, 『백범일지』 · 1945년 8월, 중국 시안(西安)에서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1188720" y="3566160"/>
            <a:ext cx="74980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3611880"/>
            <a:ext cx="71323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오늘 여러분은 광복군이 되어, 이 빈칸의 이유를 직접 추리합니다.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광복군 추리 작전: 모둠 역할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사료 리더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앱의 사료를 소리 내어 읽고 핵심 문장에 밑줄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판단자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사료를 근거로 모둠의 선택을 결정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기록자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선택 · 근거 사료 · 예상 결과를 판단 기록지에 기록</a:t>
            </a:r>
            <a:endParaRPr lang="en-US" sz="1400" dirty="0"/>
          </a:p>
        </p:txBody>
      </p:sp>
      <p:sp>
        <p:nvSpPr>
          <p:cNvPr id="20" name="qr-slot"/>
          <p:cNvSpPr/>
          <p:nvPr/>
        </p:nvSpPr>
        <p:spPr>
          <a:xfrm>
            <a:off x="7406640" y="3383280"/>
            <a:ext cx="128016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406640" y="3383280"/>
            <a:ext cx="128016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아직 오지 않은 광복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29000"/>
            <a:ext cx="66751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1940 창설(충칭) → OSS 합작 훈련 → 국내 진공 작전 준비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“정답 선택”보다 “근거 있는 선택”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광복군의 준비는 헛된 것이었을까?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417320"/>
            <a:ext cx="640080" cy="640080"/>
          </a:xfrm>
          <a:prstGeom prst="ellipse">
            <a:avLst/>
          </a:prstGeom>
          <a:solidFill>
            <a:srgbClr val="A23B2C"/>
          </a:solidFill>
          <a:ln w="12700">
            <a:solidFill>
              <a:srgbClr val="A23B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헛되었다</a:t>
            </a:r>
            <a:endParaRPr lang="en-US" sz="20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의미 있었다</a:t>
            </a:r>
            <a:endParaRPr lang="en-US" sz="2000" dirty="0"/>
          </a:p>
        </p:txBody>
      </p:sp>
      <p:sp>
        <p:nvSpPr>
          <p:cNvPr id="11" name="card"/>
          <p:cNvSpPr/>
          <p:nvPr/>
        </p:nvSpPr>
        <p:spPr>
          <a:xfrm>
            <a:off x="6126480" y="1234440"/>
            <a:ext cx="25603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rgbClr val="B08D3C"/>
          </a:solidFill>
          <a:ln w="12700">
            <a:solidFill>
              <a:srgbClr val="B08D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모르겠다</a:t>
            </a:r>
            <a:endParaRPr lang="en-US" sz="2000" dirty="0"/>
          </a:p>
        </p:txBody>
      </p:sp>
      <p:sp>
        <p:nvSpPr>
          <p:cNvPr id="14" name="card"/>
          <p:cNvSpPr/>
          <p:nvPr/>
        </p:nvSpPr>
        <p:spPr>
          <a:xfrm>
            <a:off x="457200" y="3291840"/>
            <a:ext cx="8229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77724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신호등 카드를 든 뒤, 근거가 된 사료 한 문장을 함께 말해 봅시다.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“스스로 싸워 얻으려 한 광복”은 광복 이후에 어떤 의미가 있었을까?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우리 동네 이야기: 77년 만의 귀환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384048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47472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6"/>
                </a:solidFill>
              </a:rPr>
              <a:t>17위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34747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중국에서 숨진 광복군들은 우리 학교 근처 수유리 한국광복군 합동묘소에 함께 묻혀 있었습니다.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572000" y="123444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2022년 8월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783080"/>
            <a:ext cx="3749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광복 77년 만에 국립대전현충원으로 이장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572000" y="2971800"/>
            <a:ext cx="4114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3063240"/>
            <a:ext cx="374904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이분들의 광복은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언제 온 걸까요?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3차시 · AI가 말하는 역사, 믿어도 될까?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Authenticate · 웹앱 「역사탐정 프로젝트」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AI가 이렇게 말했습니다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AI 답변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“한국광복군은 미국과 함께 국내 진공 작전을 펼쳐 서울을 되찾았다.”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지난 시간에 배운 것과 무엇이 다른가요? 이 문장이 퍼지면 무엇이 지워질까요?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474720"/>
            <a:ext cx="77724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잘못된 기억은 희생을 지운다. 정확히 기억하는 것이 보훈이다.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기억을 지키는 탐정의 검증 3단계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출처 확인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누가, 언제 만든 정보인가?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맥락화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그 시대 상황에서 말이 되는가?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교차검증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신뢰할 만한 자료 2개 이상이 같은 말을 하는가?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29000"/>
            <a:ext cx="66751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검증 자료: 국사편찬위원회 한국사데이터베이스·우리역사넷 · 독립기념관 한국독립운동정보시스템 · 공훈전자사료관 · 국가법령정보센터</a:t>
            </a:r>
            <a:endParaRPr lang="en-US" sz="1300" dirty="0"/>
          </a:p>
        </p:txBody>
      </p:sp>
      <p:sp>
        <p:nvSpPr>
          <p:cNvPr id="21" name="qr-slot"/>
          <p:cNvSpPr/>
          <p:nvPr/>
        </p:nvSpPr>
        <p:spPr>
          <a:xfrm>
            <a:off x="7406640" y="3383280"/>
            <a:ext cx="128016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406640" y="3383280"/>
            <a:ext cx="128016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역사탐정 프로젝트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사건 파일: 사실일까, 오류일까?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261872"/>
            <a:ext cx="32004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임시정부는 1919년 4월 중국 베이징에서 수립되었다.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261872"/>
            <a:ext cx="32004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임시헌장 제1조는 “대한민국은 입헌군주제로 함”이다.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359152"/>
            <a:ext cx="32004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한국광복군은 1940년 9월 17일 충칭에서 창설되었다.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5146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359152"/>
            <a:ext cx="32004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광복군은 OSS와 국내 진공 작전을 실행해 서울을 되찾았다.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456432"/>
            <a:ext cx="32004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현행 헌법 전문에는 임시정부의 법통 계승이 명시되어 있다.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4663440" y="338328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611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00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3456432"/>
            <a:ext cx="320040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김구는 1945년 8월 15일 서울에서 광복 소식을 들었다.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사실인 진술도 섞여 있습니다 · 사실 / 오류 / 판단 보류로 분류하고, 오류는 근거와 함께 바로잡기 (학습자료 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보훈 팩트카드 만들기 → 갤러리 워크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42062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AI가 말했다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691640"/>
            <a:ext cx="1828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바로잡은 사실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2258568"/>
            <a:ext cx="1828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05456"/>
            <a:ext cx="2011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검증 단계 체크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2825496"/>
            <a:ext cx="1828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072384"/>
            <a:ext cx="2011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근거 (APA 7판)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3392424"/>
            <a:ext cx="1828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639312"/>
            <a:ext cx="2011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기억해야 하는 이유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959352"/>
            <a:ext cx="182880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937760" y="123444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307592"/>
            <a:ext cx="3383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카드 제작 8분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1673352"/>
            <a:ext cx="3383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모둠별 오류 1개 → 카드 1장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937760" y="233172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2404872"/>
            <a:ext cx="3383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패들렛 게시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770632"/>
            <a:ext cx="3383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QR로 ‘강북 보훈 기억 지도’에 연결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937760" y="342900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3502152"/>
            <a:ext cx="3383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검증 도장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3867912"/>
            <a:ext cx="3383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다른 모둠 카드의 근거를 다시 확인하고 👍 또는 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4차시 · 임시정부가 설계한 나라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Connect · 웹앱 「임시정부 : 새로운 나라를 향해」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100년의 거울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39776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1919 · 대한민국 임시헌장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제1조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대한민국은 민주공화제로 함</a:t>
            </a:r>
            <a:endParaRPr lang="en-US" sz="2400" dirty="0"/>
          </a:p>
        </p:txBody>
      </p:sp>
      <p:sp>
        <p:nvSpPr>
          <p:cNvPr id="8" name="card"/>
          <p:cNvSpPr/>
          <p:nvPr/>
        </p:nvSpPr>
        <p:spPr>
          <a:xfrm>
            <a:off x="4709160" y="1234440"/>
            <a:ext cx="397764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1987 · 대한민국헌법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828800"/>
            <a:ext cx="356616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제1조 ①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대한민국은 민주공화국이다.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100년 넘게 이어진 이 문장을 지키기 위해, 누가 무엇을 했을까요?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기록관 미션: 새 나라의 제도를 찾아라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걷고 찾기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1인칭 3D 공간에서 임시정부가 설계한 제도 찾기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오늘과 짝짓기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임시정부가 꿈꾼 제도 → 오늘 헌법·사회에서 찾은 모습, 3쌍 기록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234440"/>
            <a:ext cx="25603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더 생각하기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4·19와 6월 민주항쟁 때 시민들은 이 약속을 어떻게 지켰을까?</a:t>
            </a:r>
            <a:endParaRPr lang="en-US" sz="1400" dirty="0"/>
          </a:p>
        </p:txBody>
      </p:sp>
      <p:sp>
        <p:nvSpPr>
          <p:cNvPr id="20" name="qr-slot"/>
          <p:cNvSpPr/>
          <p:nvPr/>
        </p:nvSpPr>
        <p:spPr>
          <a:xfrm>
            <a:off x="7406640" y="3383280"/>
            <a:ext cx="1280160" cy="1234440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406640" y="3383280"/>
            <a:ext cx="128016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임시정부 : 새로운 나라를 향해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29000"/>
            <a:ext cx="6675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학습자료 6 · 17분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기록관의 감사 편지: 3요소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5486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사실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팩트카드로 확인한 그분의 활동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325880"/>
            <a:ext cx="5486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감정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감정 온도계와 2차시 감사 메모에서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325880"/>
            <a:ext cx="5486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463040"/>
            <a:ext cx="15544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다짐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오늘 내가 이어 갈 약속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20440"/>
            <a:ext cx="777240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받는 분: 1~2차시에 만난 인물 · 수유동 묘역의 임시정부 요인(이시영 등) · 77년 만에 귀환한 수유리 광복군 17위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나의 보훈 약속</a:t>
            </a:r>
            <a:endParaRPr lang="en-US" sz="3000" dirty="0"/>
          </a:p>
        </p:txBody>
      </p:sp>
      <p:sp>
        <p:nvSpPr>
          <p:cNvPr id="3" name="stage-badge"/>
          <p:cNvSpPr/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ge-letter"/>
          <p:cNvSpPr txBox="1"/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457200" y="1234440"/>
            <a:ext cx="18516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15773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기억 산책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15773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4·19민주묘지 → 북한산 역사 순례길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2583180" y="1234440"/>
            <a:ext cx="18516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20340" y="1371600"/>
            <a:ext cx="15773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편지 전달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20340" y="1874520"/>
            <a:ext cx="15773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보훈청·광복회와 협의해 실제 전달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709160" y="1234440"/>
            <a:ext cx="18516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15773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체험부스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15773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1학년 대상 기록관 도슨트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835140" y="1234440"/>
            <a:ext cx="18516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72300" y="1371600"/>
            <a:ext cx="15773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팩트카드+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72300" y="1874520"/>
            <a:ext cx="157734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강북 보훈 기억 지도에 추가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57200" y="3200400"/>
            <a:ext cx="82296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91840"/>
            <a:ext cx="777240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1차시 질문, 이제 답할 수 있나요?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왜 오늘의 헌법은 임시정부를 ‘뿌리’라고 할까?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정확히 기억하는 것이 보훈이다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기록관은 이제 여러분입니다.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T 기록관">
  <a:themeElements>
    <a:clrScheme name="FACT 기록관">
      <a:dk1>
        <a:srgbClr val="1B2433"/>
      </a:dk1>
      <a:lt1>
        <a:srgbClr val="FFFFFF"/>
      </a:lt1>
      <a:dk2>
        <a:srgbClr val="1F3A5F"/>
      </a:dk2>
      <a:lt2>
        <a:srgbClr val="EEF2F7"/>
      </a:lt2>
      <a:accent1>
        <a:srgbClr val="1F3A5F"/>
      </a:accent1>
      <a:accent2>
        <a:srgbClr val="B08D3C"/>
      </a:accent2>
      <a:accent3>
        <a:srgbClr val="A23B2C"/>
      </a:accent3>
      <a:accent4>
        <a:srgbClr val="2E6B4F"/>
      </a:accent4>
      <a:accent5>
        <a:srgbClr val="6B7A90"/>
      </a:accent5>
      <a:accent6>
        <a:srgbClr val="D9C08A"/>
      </a:accent6>
      <a:hlink>
        <a:srgbClr val="1F3A5F"/>
      </a:hlink>
      <a:folHlink>
        <a:srgbClr val="6B7A90"/>
      </a:folHlink>
    </a:clrScheme>
    <a:fontScheme name="FACT 기록관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기억은 FACT로 지킨다 - 수업 PPT</dc:title>
  <dc:subject>PptxGenJS Presentation</dc:subject>
  <dc:creator>서울번동중학교 김동은</dc:creator>
  <cp:lastModifiedBy>서울번동중학교 김동은</cp:lastModifiedBy>
  <cp:revision>1</cp:revision>
  <dcterms:created xsi:type="dcterms:W3CDTF">2026-10-07T04:50:07Z</dcterms:created>
  <dcterms:modified xsi:type="dcterms:W3CDTF">2026-10-07T04:50:07Z</dcterms:modified>
</cp:coreProperties>
</file>